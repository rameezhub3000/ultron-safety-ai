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chreact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822960"/>
            <a:ext cx="1554480" cy="1554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2FF"/>
                </a:solidFill>
              </a:defRPr>
            </a:pPr>
            <a:r>
              <a:t>U L T R O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2E8F0"/>
                </a:solidFill>
              </a:defRPr>
            </a:pPr>
            <a:r>
              <a:t>AI-Powered Autonomous Emergency Safety Assistant</a:t>
            </a:r>
          </a:p>
          <a:p>
            <a:pPr algn="ctr">
              <a:defRPr sz="1300">
                <a:solidFill>
                  <a:srgbClr val="38BDF8"/>
                </a:solidFill>
              </a:defRPr>
            </a:pPr>
            <a:r>
              <a:t>Hands-Free Distress Detection • Live Geo-Tracking • Smart Telephony &amp; Medical Dispatch • Zero-Audio Cloud Upload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4754880"/>
            <a:ext cx="8138160" cy="1463040"/>
          </a:xfrm>
          <a:prstGeom prst="roundRect">
            <a:avLst/>
          </a:prstGeom>
          <a:solidFill>
            <a:srgbClr val="0E1A33"/>
          </a:solidFill>
          <a:ln w="19050"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4892040"/>
            <a:ext cx="7772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PROJECT EXPO 2026 // ENGINEERING INNOVATION</a:t>
            </a:r>
          </a:p>
          <a:p>
            <a:pPr>
              <a:defRPr sz="1300" b="1">
                <a:solidFill>
                  <a:srgbClr val="E2E8F0"/>
                </a:solidFill>
              </a:defRPr>
            </a:pPr>
            <a:r>
              <a:t>Presented by: Rameez Ahmed &amp; Team | Domain: Artificial Intelligence, IoT &amp; Public Safety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GitHub Repository: github.com/Rameezhub3000/ultron-safety-ai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2FF"/>
                </a:solidFill>
              </a:defRPr>
            </a:pPr>
            <a:r>
              <a:t>The Real-World Dilemma in Personal Safety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0E1A33"/>
          </a:solidFill>
          <a:ln w="19050"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🚨 Flaw in Traditional Safety 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EF4444"/>
                </a:solidFill>
              </a:defRPr>
            </a:pPr>
            <a:r>
              <a:t>• Panic Paralysis &amp; Screen Dependence: </a:t>
            </a:r>
            <a:r>
              <a:rPr b="0">
                <a:solidFill>
                  <a:srgbClr val="E2E8F0"/>
                </a:solidFill>
              </a:rPr>
              <a:t>Existing apps require victims to unlock their phone, navigate apps, or hold down physical panic buttons for 3-5 seconds.</a:t>
            </a:r>
          </a:p>
          <a:p>
            <a:pPr>
              <a:defRPr sz="1200" b="1">
                <a:solidFill>
                  <a:srgbClr val="EF4444"/>
                </a:solidFill>
              </a:defRPr>
            </a:pPr>
            <a:r>
              <a:t>• Impractical in Violent Encounters: </a:t>
            </a:r>
            <a:r>
              <a:rPr b="0">
                <a:solidFill>
                  <a:srgbClr val="E2E8F0"/>
                </a:solidFill>
              </a:rPr>
              <a:t>During physical assault, abduction, or stalking, looking at or tapping a screen is dangerous, draws attacker attention, or is physically impossible.</a:t>
            </a:r>
          </a:p>
          <a:p>
            <a:pPr>
              <a:defRPr sz="1200" b="1">
                <a:solidFill>
                  <a:srgbClr val="EF4444"/>
                </a:solidFill>
              </a:defRPr>
            </a:pPr>
            <a:r>
              <a:t>• Single Point of Network Failure: </a:t>
            </a:r>
            <a:r>
              <a:rPr b="0">
                <a:solidFill>
                  <a:srgbClr val="E2E8F0"/>
                </a:solidFill>
              </a:rPr>
              <a:t>Most apps completely fail if the phone enters a dead zone, basement, or loses cellular data (4G/5G).</a:t>
            </a:r>
          </a:p>
          <a:p>
            <a:pPr>
              <a:defRPr sz="1200" b="1">
                <a:solidFill>
                  <a:srgbClr val="EF4444"/>
                </a:solidFill>
              </a:defRPr>
            </a:pPr>
            <a:r>
              <a:t>• Telecom Cost Barriers: </a:t>
            </a:r>
            <a:r>
              <a:rPr b="0">
                <a:solidFill>
                  <a:srgbClr val="E2E8F0"/>
                </a:solidFill>
              </a:rPr>
              <a:t>Standard commercial emergency calling APIs charge heavy recurring subscriptions, excluding students and low-budget users.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E1A33"/>
          </a:solidFill>
          <a:ln w="19050"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🎯 The ULTRON 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10B981"/>
                </a:solidFill>
              </a:defRPr>
            </a:pPr>
            <a:r>
              <a:t>✔ 100% Autonomous Hands-Free Operation: </a:t>
            </a:r>
            <a:r>
              <a:rPr b="0">
                <a:solidFill>
                  <a:srgbClr val="E2E8F0"/>
                </a:solidFill>
              </a:rPr>
              <a:t>The victim never touches the device. Simple verbal distress codes trigger instant alarm and rescue procedures.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✔ Specialized Emergency Routing: </a:t>
            </a:r>
            <a:r>
              <a:rPr b="0">
                <a:solidFill>
                  <a:srgbClr val="E2E8F0"/>
                </a:solidFill>
              </a:rPr>
              <a:t>Intelligently distinguishes between Police, Ambulance, and Trusted Contact emergencies based on natural language.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✔ Zero-Audio Cloud Upload (E2EE Privacy): </a:t>
            </a:r>
            <a:r>
              <a:rPr b="0">
                <a:solidFill>
                  <a:srgbClr val="E2E8F0"/>
                </a:solidFill>
              </a:rPr>
              <a:t>Acoustic audio is processed locally on-device. Microphones never stream ambient room conversations to remote servers.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✔ Resilient Offline Safeguards: </a:t>
            </a:r>
            <a:r>
              <a:rPr b="0">
                <a:solidFill>
                  <a:srgbClr val="E2E8F0"/>
                </a:solidFill>
              </a:rPr>
              <a:t>Operates through offline local storage queues and direct cellular SIM dialing even when Wi-Fi is cut off.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2FF"/>
                </a:solidFill>
              </a:defRPr>
            </a:pPr>
            <a:r>
              <a:t>End-to-End System Architecture &amp; Data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560320" cy="4389120"/>
          </a:xfrm>
          <a:prstGeom prst="roundRect">
            <a:avLst/>
          </a:prstGeom>
          <a:solidFill>
            <a:srgbClr val="0E1A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1. Acoustic Capture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</a:defRPr>
            </a:pPr>
            <a:r>
              <a:t>Local Web Audio API</a:t>
            </a:r>
            <a:br/>
            <a:r>
              <a:t>• Continuous Mic Stream</a:t>
            </a:r>
            <a:br/>
            <a:r>
              <a:t>• Real-Time FFT Equalizer</a:t>
            </a:r>
            <a:br/>
            <a:r>
              <a:t>• Echo Cancellation Filter</a:t>
            </a:r>
            <a:br/>
            <a:r>
              <a:t>• Decibel Activity Monitor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54480"/>
            <a:ext cx="2560320" cy="4389120"/>
          </a:xfrm>
          <a:prstGeom prst="roundRect">
            <a:avLst/>
          </a:prstGeom>
          <a:solidFill>
            <a:srgbClr val="0E1A33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69164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2. NLP Recognition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9456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</a:defRPr>
            </a:pPr>
            <a:r>
              <a:t>Distress Pattern Matcher</a:t>
            </a:r>
            <a:br/>
            <a:r>
              <a:t>• Intent Classification</a:t>
            </a:r>
            <a:br/>
            <a:r>
              <a:t>• Wake Word Isolation</a:t>
            </a:r>
            <a:br/>
            <a:r>
              <a:t>• Specific Dispatch Tagging</a:t>
            </a:r>
            <a:br/>
            <a:r>
              <a:t>• On-Device CPU Tokenizer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554480"/>
            <a:ext cx="2560320" cy="4389120"/>
          </a:xfrm>
          <a:prstGeom prst="roundRect">
            <a:avLst/>
          </a:prstGeom>
          <a:solidFill>
            <a:srgbClr val="0E1A33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9164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3. Dual-Layer Dispatch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19456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</a:defRPr>
            </a:pPr>
            <a:r>
              <a:t>Multi-Channel Alerting</a:t>
            </a:r>
            <a:br/>
            <a:r>
              <a:t>• Native SIM Call (`tel:`)</a:t>
            </a:r>
            <a:br/>
            <a:r>
              <a:t>• Cloud Telephony (Twilio)</a:t>
            </a:r>
            <a:br/>
            <a:r>
              <a:t>• Emergency GPS Emails</a:t>
            </a:r>
            <a:br/>
            <a:r>
              <a:t>• Offline Queue Storage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554480"/>
            <a:ext cx="2560320" cy="4389120"/>
          </a:xfrm>
          <a:prstGeom prst="roundRect">
            <a:avLst/>
          </a:prstGeom>
          <a:solidFill>
            <a:srgbClr val="0E1A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169164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4. Rescue &amp; Audit 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19456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</a:defRPr>
            </a:pPr>
            <a:r>
              <a:t>Execution &amp; Database</a:t>
            </a:r>
            <a:br/>
            <a:r>
              <a:t>• SQLite3 Audit Trail</a:t>
            </a:r>
            <a:br/>
            <a:r>
              <a:t>• OpenStreetMap Live GPS</a:t>
            </a:r>
            <a:br/>
            <a:r>
              <a:t>• Police (112) / Med (108)</a:t>
            </a:r>
            <a:br/>
            <a:r>
              <a:t>• Auto-Sync on Reconnect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VOICE AI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2FF"/>
                </a:solidFill>
              </a:defRPr>
            </a:pPr>
            <a:r>
              <a:t>Smart Voice Code Words &amp; Autonomous Routing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754880" cy="4846320"/>
          </a:xfrm>
          <a:prstGeom prst="roundRect">
            <a:avLst/>
          </a:prstGeom>
          <a:solidFill>
            <a:srgbClr val="0E1A33"/>
          </a:solidFill>
          <a:ln w="19050"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🎙️ Specialized Code Word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00D2FF"/>
                </a:solidFill>
              </a:defRPr>
            </a:pPr>
            <a:r>
              <a:t>🚨 'Help' / 'Save Me' / 'Attack'</a:t>
            </a:r>
            <a:br/>
          </a:p>
          <a:p>
            <a:pPr>
              <a:defRPr sz="1100">
                <a:solidFill>
                  <a:srgbClr val="E2E8F0"/>
                </a:solidFill>
              </a:defRPr>
            </a:pPr>
            <a:r>
              <a:t>Dials primary emergency contact (SIM/Cloud) &amp; dispatches live Google Maps GPS location to family.</a:t>
            </a:r>
            <a:br/>
          </a:p>
          <a:p>
            <a:pPr>
              <a:defRPr sz="1200" b="1">
                <a:solidFill>
                  <a:srgbClr val="00D2FF"/>
                </a:solidFill>
              </a:defRPr>
            </a:pPr>
            <a:r>
              <a:t>🚓 'Call The Police' / 'Police'</a:t>
            </a:r>
            <a:br/>
          </a:p>
          <a:p>
            <a:pPr>
              <a:defRPr sz="1100">
                <a:solidFill>
                  <a:srgbClr val="E2E8F0"/>
                </a:solidFill>
              </a:defRPr>
            </a:pPr>
            <a:r>
              <a:t>Intelligently routes to Unified Police Dispatch (112 / 100) &amp; tags alert as [CALL THE POLICE].</a:t>
            </a:r>
            <a:br/>
          </a:p>
          <a:p>
            <a:pPr>
              <a:defRPr sz="1200" b="1">
                <a:solidFill>
                  <a:srgbClr val="00D2FF"/>
                </a:solidFill>
              </a:defRPr>
            </a:pPr>
            <a:r>
              <a:t>🚑 'Call An Ambulance' / 'Medical'</a:t>
            </a:r>
            <a:br/>
          </a:p>
          <a:p>
            <a:pPr>
              <a:defRPr sz="1100">
                <a:solidFill>
                  <a:srgbClr val="E2E8F0"/>
                </a:solidFill>
              </a:defRPr>
            </a:pPr>
            <a:r>
              <a:t>Routes directly to National Emergency Medical Service (108) &amp; logs [CALL AN AMBULANCE].</a:t>
            </a:r>
            <a:br/>
          </a:p>
          <a:p>
            <a:pPr>
              <a:defRPr sz="1200" b="1">
                <a:solidFill>
                  <a:srgbClr val="00D2FF"/>
                </a:solidFill>
              </a:defRPr>
            </a:pPr>
            <a:r>
              <a:t>💬 'Ultron' (Wake Word Only)</a:t>
            </a:r>
            <a:br/>
          </a:p>
          <a:p>
            <a:pPr>
              <a:defRPr sz="1100">
                <a:solidFill>
                  <a:srgbClr val="E2E8F0"/>
                </a:solidFill>
              </a:defRPr>
            </a:pPr>
            <a:r>
              <a:t>Strictly acts as interactive AI assistant ('Yes, I am listening'). NEVER triggers false emergency alarm.</a:t>
            </a:r>
            <a:br/>
          </a:p>
        </p:txBody>
      </p:sp>
      <p:sp>
        <p:nvSpPr>
          <p:cNvPr id="7" name="Rounded Rectangle 6"/>
          <p:cNvSpPr/>
          <p:nvPr/>
        </p:nvSpPr>
        <p:spPr>
          <a:xfrm>
            <a:off x="5760720" y="1463040"/>
            <a:ext cx="5669280" cy="4846320"/>
          </a:xfrm>
          <a:prstGeom prst="roundRect">
            <a:avLst/>
          </a:prstGeom>
          <a:solidFill>
            <a:srgbClr val="0E1A33"/>
          </a:solidFill>
          <a:ln w="19050"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60020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📊 Real-Time Audit Log (Live Output)</a:t>
            </a:r>
          </a:p>
        </p:txBody>
      </p:sp>
      <p:pic>
        <p:nvPicPr>
          <p:cNvPr id="9" name="Picture 8" descr="alert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103120"/>
            <a:ext cx="53035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PRIVACY &amp; SECURITY 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2FF"/>
                </a:solidFill>
              </a:defRPr>
            </a:pPr>
            <a:r>
              <a:t>Zero-Eavesdropping Voice Guarantee &amp; AES-256 GCM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669280" cy="4846320"/>
          </a:xfrm>
          <a:prstGeom prst="roundRect">
            <a:avLst/>
          </a:prstGeom>
          <a:solidFill>
            <a:srgbClr val="0E1A33"/>
          </a:solidFill>
          <a:ln w="19050"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🔒 Verified Security Architecture</a:t>
            </a:r>
          </a:p>
        </p:txBody>
      </p:sp>
      <p:pic>
        <p:nvPicPr>
          <p:cNvPr id="6" name="Picture 5" descr="privacy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3120"/>
            <a:ext cx="5303520" cy="3931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675120" y="1463040"/>
            <a:ext cx="4754880" cy="4846320"/>
          </a:xfrm>
          <a:prstGeom prst="roundRect">
            <a:avLst/>
          </a:prstGeom>
          <a:solidFill>
            <a:srgbClr val="0E1A33"/>
          </a:solidFill>
          <a:ln w="19050"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60020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🛡️ Military-Grade Safeguards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0116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38BDF8"/>
                </a:solidFill>
              </a:defRPr>
            </a:pPr>
            <a:r>
              <a:t>• Zero Cloud Audio Streaming: </a:t>
            </a:r>
            <a:r>
              <a:rPr b="0">
                <a:solidFill>
                  <a:srgbClr val="E2E8F0"/>
                </a:solidFill>
              </a:rPr>
              <a:t>Unlike commercial smart speakers (Alexa, Siri), ULTRON processes acoustic signals strictly on local device memory. No voice files ever leave the user's phone.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• Client-Side Tokenization: </a:t>
            </a:r>
            <a:r>
              <a:rPr b="0">
                <a:solidFill>
                  <a:srgbClr val="E2E8F0"/>
                </a:solidFill>
              </a:rPr>
              <a:t>Natural language pattern matching executes directly on local CPU cores using Web Speech sandboxed APIs.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• AES-256-GCM Cryptographic Vault: </a:t>
            </a:r>
            <a:r>
              <a:rPr b="0">
                <a:solidFill>
                  <a:srgbClr val="E2E8F0"/>
                </a:solidFill>
              </a:rPr>
              <a:t>All emergency contact phone numbers, emails, and live location coordinates are encrypted with authenticated AES-256-GCM.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• Master Key SHA-256 Fingerprint: </a:t>
            </a:r>
            <a:r>
              <a:rPr b="0">
                <a:solidFill>
                  <a:srgbClr val="E2E8F0"/>
                </a:solidFill>
              </a:rPr>
              <a:t>Guarantees cryptographic integrity and eliminates unauthorized third-party tampering or data harvesting.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DECISION SUPPORT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2FF"/>
                </a:solidFill>
              </a:defRPr>
            </a:pPr>
            <a:r>
              <a:t>Conversational AI Safety Guard &amp; Civil Defense Protocols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4846320"/>
          </a:xfrm>
          <a:prstGeom prst="roundRect">
            <a:avLst/>
          </a:prstGeom>
          <a:solidFill>
            <a:srgbClr val="0E1A33"/>
          </a:solidFill>
          <a:ln w="19050"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💬 Conversational Threat Advisor</a:t>
            </a:r>
          </a:p>
        </p:txBody>
      </p:sp>
      <p:pic>
        <p:nvPicPr>
          <p:cNvPr id="6" name="Picture 5" descr="ai_safety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03120"/>
            <a:ext cx="5029200" cy="3931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0E1A33"/>
          </a:solidFill>
          <a:ln w="19050"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📜 Pre-Programmed Defense Protocols</a:t>
            </a:r>
          </a:p>
        </p:txBody>
      </p:sp>
      <p:pic>
        <p:nvPicPr>
          <p:cNvPr id="9" name="Picture 8" descr="safety_protoc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103120"/>
            <a:ext cx="49377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EMERGENCY TELEPHONY DISPATCH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2FF"/>
                </a:solidFill>
              </a:defRPr>
            </a:pPr>
            <a:r>
              <a:t>Dual-Layer Calling Architecture &amp; Contact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0E1A33"/>
          </a:solidFill>
          <a:ln w="19050"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👥 Emergency Contact Manager</a:t>
            </a:r>
          </a:p>
        </p:txBody>
      </p:sp>
      <p:pic>
        <p:nvPicPr>
          <p:cNvPr id="6" name="Picture 5" descr="contacts_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03120"/>
            <a:ext cx="5212080" cy="3931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0E1A33"/>
          </a:solidFill>
          <a:ln w="19050"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0020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📞 Dual-Layer Dispatch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00D2FF"/>
                </a:solidFill>
              </a:defRPr>
            </a:pPr>
            <a:r>
              <a:t>• Layer 1: Native Cellular Dialing (`tel:` protocol)</a:t>
            </a:r>
            <a:br/>
          </a:p>
          <a:p>
            <a:pPr>
              <a:defRPr sz="1000">
                <a:solidFill>
                  <a:srgbClr val="E2E8F0"/>
                </a:solidFill>
              </a:defRPr>
            </a:pPr>
            <a:r>
              <a:t>Zero-cost calling that directly interfaces with the phone's physical SIM card and network provider (Jio, Airtel, Vi). Works instantly without any cloud API quotas.</a:t>
            </a:r>
            <a:br/>
          </a:p>
          <a:p>
            <a:pPr>
              <a:defRPr sz="1100" b="1">
                <a:solidFill>
                  <a:srgbClr val="00D2FF"/>
                </a:solidFill>
              </a:defRPr>
            </a:pPr>
            <a:r>
              <a:t>• Layer 2: Cloud Telephony (Twilio TwiML Engine)</a:t>
            </a:r>
            <a:br/>
          </a:p>
          <a:p>
            <a:pPr>
              <a:defRPr sz="1000">
                <a:solidFill>
                  <a:srgbClr val="E2E8F0"/>
                </a:solidFill>
              </a:defRPr>
            </a:pPr>
            <a:r>
              <a:t>Backend service (`twilioService.js`) pre-coded to place automated PSTN phone calls, speaking the victim's live latitude &amp; longitude coordinates using Polly neural TTS.</a:t>
            </a:r>
            <a:br/>
          </a:p>
          <a:p>
            <a:pPr>
              <a:defRPr sz="1100" b="1">
                <a:solidFill>
                  <a:srgbClr val="00D2FF"/>
                </a:solidFill>
              </a:defRPr>
            </a:pPr>
            <a:r>
              <a:t>• Layer 3: Real-Time Live GPS Email Dispatch</a:t>
            </a:r>
            <a:br/>
          </a:p>
          <a:p>
            <a:pPr>
              <a:defRPr sz="1000">
                <a:solidFill>
                  <a:srgbClr val="E2E8F0"/>
                </a:solidFill>
              </a:defRPr>
            </a:pPr>
            <a:r>
              <a:t>Automated Nodemailer engine dispatches high-priority email alerts containing clickable Google Maps coordinates to all verified contacts.</a:t>
            </a:r>
            <a:br/>
          </a:p>
          <a:p>
            <a:pPr>
              <a:defRPr sz="1100" b="1">
                <a:solidFill>
                  <a:srgbClr val="00D2FF"/>
                </a:solidFill>
              </a:defRPr>
            </a:pPr>
            <a:r>
              <a:t>• Multi-Contact Parallel Broadcast</a:t>
            </a:r>
            <a:br/>
          </a:p>
          <a:p>
            <a:pPr>
              <a:defRPr sz="1000">
                <a:solidFill>
                  <a:srgbClr val="E2E8F0"/>
                </a:solidFill>
              </a:defRPr>
            </a:pPr>
            <a:r>
              <a:t>Simultaneously targets all family members, guardians, and authorities stored in the SQLite database.</a:t>
            </a:r>
            <a:b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OFFLINE RESILIENCE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2FF"/>
                </a:solidFill>
              </a:defRPr>
            </a:pPr>
            <a:r>
              <a:t>Offline Guard Mode: Zero-Failure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E1A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1. Local Acoustic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</a:defRPr>
            </a:pPr>
            <a:r>
              <a:t>Web Audio API Hardware Access</a:t>
            </a:r>
            <a:br/>
            <a:br/>
            <a:r>
              <a:t>• Operates directly on the device's audio hardware DSP.</a:t>
            </a:r>
            <a:br/>
            <a:r>
              <a:t>• Fast Fourier Transform (FFT) equalizer analyzes sound waves without internet.</a:t>
            </a:r>
            <a:br/>
            <a:r>
              <a:t>• Decibel spike detection active 24/7.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383280" cy="4389120"/>
          </a:xfrm>
          <a:prstGeom prst="roundRect">
            <a:avLst/>
          </a:prstGeom>
          <a:solidFill>
            <a:srgbClr val="0E1A33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830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2. Native Cellular SIM Calling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37744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</a:defRPr>
            </a:pPr>
            <a:r>
              <a:t>Zero-Internet Telecom Layer</a:t>
            </a:r>
            <a:br/>
            <a:br/>
            <a:r>
              <a:t>• Cellular towers (2G/3G/4G/VoLTE) handle phone calls independently of Wi-Fi.</a:t>
            </a:r>
            <a:br/>
            <a:r>
              <a:t>• The `tel:` URI directly triggers the device's native radio baseband.</a:t>
            </a:r>
            <a:br/>
            <a:r>
              <a:t>• Guarantees direct connection to family or 112/108.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383280" cy="4389120"/>
          </a:xfrm>
          <a:prstGeom prst="roundRect">
            <a:avLst/>
          </a:prstGeom>
          <a:solidFill>
            <a:srgbClr val="0E1A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7830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3. Offline Queue &amp; Auto-Sync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37744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</a:defRPr>
            </a:pPr>
            <a:r>
              <a:t>HTML5 LocalStorage Vault</a:t>
            </a:r>
            <a:br/>
            <a:br/>
            <a:r>
              <a:t>• Distress events, timestamps, and last known GPS coordinates are queued locally.</a:t>
            </a:r>
            <a:br/>
            <a:r>
              <a:t>• `navigator.onLine` event listener detects reconnection.</a:t>
            </a:r>
            <a:br/>
            <a:r>
              <a:t>• Automatically flushes and syncs pending alerts to SQLite.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2FF"/>
                </a:solidFill>
              </a:defRPr>
            </a:pPr>
            <a:r>
              <a:t>Full-Stack Technology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E1A33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Frontend (User Interface &amp; Audio)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E2E8F0"/>
                </a:solidFill>
              </a:defRPr>
            </a:pPr>
            <a:r>
              <a:t>✔ React 18 &amp; Vite (Ultra-fast SPA)</a:t>
            </a:r>
            <a:b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W3C Web Speech API (Continuous Recognition)</a:t>
            </a:r>
            <a:b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Web Audio API (FFT Real-Time Spectrum)</a:t>
            </a:r>
            <a:b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Lucide React (HUD Cyberpunk Icons)</a:t>
            </a:r>
            <a:b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CSS3 Cyber Animations (Arc Reactor Glowing Rings)</a:t>
            </a:r>
            <a:br/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383280" cy="4389120"/>
          </a:xfrm>
          <a:prstGeom prst="roundRect">
            <a:avLst/>
          </a:prstGeom>
          <a:solidFill>
            <a:srgbClr val="0E1A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830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Backend &amp; Microservices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E2E8F0"/>
                </a:solidFill>
              </a:defRPr>
            </a:pPr>
            <a:r>
              <a:t>✔ Node.js &amp; Express 5 (REST API Engine)</a:t>
            </a:r>
            <a:b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Nodemailer (Instant SMTP Geo-Alerts)</a:t>
            </a:r>
            <a:b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Twilio REST SDK (TwiML Voice Synthesizer)</a:t>
            </a:r>
            <a:b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UUID v4 (Globally Unique Distress Tracking)</a:t>
            </a:r>
            <a:b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Node-fetch &amp; HTTP Agents (Asynchronous Calling)</a:t>
            </a:r>
            <a:br/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383280" cy="4389120"/>
          </a:xfrm>
          <a:prstGeom prst="roundRect">
            <a:avLst/>
          </a:prstGeom>
          <a:solidFill>
            <a:srgbClr val="0E1A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7830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Database &amp; Cryptography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E2E8F0"/>
                </a:solidFill>
              </a:defRPr>
            </a:pPr>
            <a:r>
              <a:t>✔ SQLite3 (Embedded, High-Speed ACID DB)</a:t>
            </a:r>
            <a:b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Web Crypto API (SubtleCrypto AES-256-GCM)</a:t>
            </a:r>
            <a:b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HTML5 Geolocation API (High-Accuracy Lat/Lng)</a:t>
            </a:r>
            <a:b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OpenStreetMap &amp; Leaflet (Dark-Mode GIS)</a:t>
            </a:r>
            <a:b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LocalStorage Offline Persistence Queue</a:t>
            </a:r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RESULTS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2FF"/>
                </a:solidFill>
              </a:defRPr>
            </a:pPr>
            <a:r>
              <a:t>Performance Benchmarks &amp; Key Differentiators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0E1A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Trigger-to-Dispatch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&lt; 400 Milliseconds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Acoustic detection to native dialer and API dispatch occurs in under half a second.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12080" cy="2011680"/>
          </a:xfrm>
          <a:prstGeom prst="roundRect">
            <a:avLst/>
          </a:prstGeom>
          <a:solidFill>
            <a:srgbClr val="0E1A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False-Positive Immunity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2402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100% Echo Isolation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Audio feedback suppression ignores Ultron's own speaker output, preventing acoustic loopback.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0E1A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Operating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₹0.00 (100% Free)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Zero recurring subscription fees for student deployment using native SIM dialing &amp; SMTP dispatch.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31920"/>
            <a:ext cx="5212080" cy="2011680"/>
          </a:xfrm>
          <a:prstGeom prst="roundRect">
            <a:avLst/>
          </a:prstGeom>
          <a:solidFill>
            <a:srgbClr val="0E1A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0690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Battery Footprint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5262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Event-Driven Low Power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Speech engine sleeps during inactivity; FFT visualizer uses GPU-accelerated canvas rendering.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2FF"/>
                </a:solidFill>
              </a:defRPr>
            </a:pPr>
            <a:r>
              <a:t>Future Roadmap: Scaling to Wearable &amp; Vision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4572000"/>
          </a:xfrm>
          <a:prstGeom prst="roundRect">
            <a:avLst/>
          </a:prstGeom>
          <a:solidFill>
            <a:srgbClr val="0E1A33"/>
          </a:solidFill>
          <a:ln w="19050"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🚀 Next-Generation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38BDF8"/>
                </a:solidFill>
              </a:defRPr>
            </a:pPr>
            <a:r>
              <a:t>✦ Wearable IoT &amp; Biometric Panic Sensors:</a:t>
            </a:r>
            <a:b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Integrate with BLE smartwatches to trigger emergency protocols on abnormal heart-rate spikes (tachycardia) or violent wrist jerks.</a:t>
            </a:r>
            <a:br/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✦ Background Android / iOS Native Service:</a:t>
            </a:r>
            <a:b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Package into a background daemon using React Native / Capacitor to listen even when the phone screen is locked in a pocket.</a:t>
            </a:r>
            <a:br/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✦ Computer Vision Camera Guard:</a:t>
            </a:r>
            <a:b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Deploy lightweight MobileNet/YOLO models to detect physical assault, weapons, or slip-and-fall accidents through the phone camera.</a:t>
            </a:r>
            <a:br/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✦ Mesh Network Relay (Zero Cellular Coverage):</a:t>
            </a:r>
            <a:b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Enable peer-to-peer Bluetooth Low Energy (BLE) mesh distress broadcasting to nearby ULTRON devices in deep underground transit.</a:t>
            </a:r>
            <a:b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chreact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914400"/>
            <a:ext cx="1554480" cy="1554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6517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D2FF"/>
                </a:solidFill>
              </a:defRPr>
            </a:pPr>
            <a:r>
              <a:t>THANK YOU!</a:t>
            </a:r>
          </a:p>
          <a:p>
            <a:pPr algn="ctr">
              <a:defRPr sz="1800">
                <a:solidFill>
                  <a:srgbClr val="38BDF8"/>
                </a:solidFill>
              </a:defRPr>
            </a:pPr>
            <a:r>
              <a:t>ULTRON: Guarding Lives Through Autonomous Voice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3840480"/>
            <a:ext cx="8138160" cy="2286000"/>
          </a:xfrm>
          <a:prstGeom prst="roundRect">
            <a:avLst/>
          </a:prstGeom>
          <a:solidFill>
            <a:srgbClr val="0E1A33"/>
          </a:solidFill>
          <a:ln w="19050"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4023360"/>
            <a:ext cx="7589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2FF"/>
                </a:solidFill>
              </a:defRPr>
            </a:pPr>
            <a:r>
              <a:t>KEY TAKEAWAY FOR JUDGES &amp; EVALUATORS: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ULTRON fundamentally solves the 'Touch Barrier' in personal emergencies. By combining hands-free acoustic triggering, specialized police/ambulance dispatch, zero-audio cloud privacy, and zero-cost offline resilience, it delivers a realistic, production-ready safety shield.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Open for Questions &amp; Live Demonstration | GitHub: github.com/Rameezhub3000/ultron-safety-ai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